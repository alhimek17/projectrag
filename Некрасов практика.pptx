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6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ABA29-DF03-3892-654E-762C23D63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2E13AC-9F5F-C58B-1368-D00ECB6F5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A5955D-9C80-CB09-3B71-A829B9B3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26CFC4-A300-2005-C620-754B4314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E8BE3F-7A3E-5FF3-D85C-537C1EF2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728E1-0E2C-DFE0-D7A1-2D127D08C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9C31E3-A3AC-C74B-B0B6-0403B7AAD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FBDA1-75F3-17B0-E2CE-99E769A6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7E9795-28EE-6A2E-B111-5FE563785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CDCB9F-EF03-EFF7-49B2-785F05E6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862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333D9-98E0-5A3E-87E1-72C5840CB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43C336-C8AB-C632-26E7-3334CB769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4EF9D6-EBA2-DD48-6F45-D207C4A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E27C27-67A5-791E-CBE6-EB035526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53B5FA-111A-9198-56A6-9F7A7898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157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94AFF-3FBF-08F2-C453-BB947E24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8378F2-467D-23EB-E0FF-73440B0FD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795870-AE3B-11FB-1415-C18CD050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4BA165-1449-FE59-F6F8-A8B6EB73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DC44BD-4D38-C7CB-808C-A18AE639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B26D21-C2C8-7843-F837-F8C6A80F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61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DED72-A213-038C-28FA-ADD7EAF7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AC6A70-7832-97CB-812D-A08FCD450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5FAD3D-EF3D-645D-39D1-93B861CBA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D4100FD-CDBC-35E9-E064-2F3ADFA73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8B3384-AABD-4176-BEFC-6146DB220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E5E2A7-F7A7-094C-D76D-D88FA7C6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07FF69-6D84-C7A0-FAC3-FCF17FAD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6BDDEB-E06C-F861-F1DF-65A252ED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78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62A40-7D78-B83A-3E4C-38A44621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A71AB86-7FE0-FFE5-BD95-3BF9A09F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5819DB-744F-7D3F-957D-B5174A97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4C90FC-08DA-03AF-AF60-572E5036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771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A33157-202E-902E-5767-19A0FE14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95D4110-A004-E6E7-50A4-73A1F463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BC369E-C7EF-8A3E-0578-C06885F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72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84F9B-94C9-148F-A56B-17C6D685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197E27-7257-DDAE-3021-F941E9A6A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8A49CF-FDFD-7451-F2AA-5CA24F5AA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456594-DB40-28B4-6B19-DCFFB9AA6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CA24EA-DBA0-D177-CC3B-2F0A9F2E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53490C-A4CB-3A78-E201-B1E9292A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28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E997C-C32E-FA48-2618-69716633A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9F2D61-84DB-3E33-82AA-D1FDE9126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798487-B255-A6D6-A550-2BB4AE755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1F4A3D-D889-E7EA-7FE3-7DEF661B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45FBF6-6B6D-861A-1C1A-94871D3F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B3B2AF-1FDE-DF07-BEF0-BAE84FC0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45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14D273-7A08-C984-90EE-D5D598AB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28981B-3338-2BEF-0A04-C05D215DE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99175D-E0F5-ED76-00DB-C2D64EF4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CF607F-BD5D-8BB8-85CF-CFC0C8A4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EF92E-3B37-FAEB-BA3C-9CE9D5AB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43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C480AC3-CBB8-0921-D39A-646381AD5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5C3BB9-7C29-E946-AA84-265854612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56CD7A-4242-47BE-B0E4-36A6C75EC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07207E-CC68-1162-FAEC-ECA2BA5E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0056B-79DF-AD19-A1C8-42F72722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94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3CDD8-4B01-4D99-7FEA-2F20608A5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23E36D-95D8-A541-7DDD-00BDEB62F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8BC38C-1176-0FE2-4885-2BB164839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7A1E1-8960-49D5-ABCC-1270F851F427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480336-2A6E-1199-1DFE-B3C16F58F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42FF35-4A37-3455-31CE-CD8FEC34A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4A70F-186C-4DD4-B5AD-55DCF8BF8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09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838A4-D3C8-9475-240E-E0EDFE3AE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Формирование интеллектуального поиска по нормативным документам организации, формирование семантически завершенных блоков текста и RAG базы.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68018F-51AB-BBC0-4218-62FE8ED49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/>
              <a:t>Некрасов А.А.</a:t>
            </a:r>
          </a:p>
        </p:txBody>
      </p:sp>
    </p:spTree>
    <p:extLst>
      <p:ext uri="{BB962C8B-B14F-4D97-AF65-F5344CB8AC3E}">
        <p14:creationId xmlns:p14="http://schemas.microsoft.com/office/powerpoint/2010/main" val="2109968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AC83C-5B23-3BB9-8ADF-5B845BD9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Введение. Описание цели и задач проекта.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4C0D3D-E9F7-28B5-9B14-0DF89E079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Цель системы: Снижение времени поиска нормативной информации в 2 раза за счет семантического подхода.</a:t>
            </a:r>
          </a:p>
        </p:txBody>
      </p:sp>
    </p:spTree>
    <p:extLst>
      <p:ext uri="{BB962C8B-B14F-4D97-AF65-F5344CB8AC3E}">
        <p14:creationId xmlns:p14="http://schemas.microsoft.com/office/powerpoint/2010/main" val="367592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FA5D2-1001-9D26-7289-8669AB1B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52674"/>
            <a:ext cx="10515600" cy="896292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D592FD-95BD-6E4E-7BE6-5E2D4FC7E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92175"/>
            <a:ext cx="10515600" cy="4197476"/>
          </a:xfrm>
        </p:spPr>
        <p:txBody>
          <a:bodyPr>
            <a:normAutofit/>
          </a:bodyPr>
          <a:lstStyle/>
          <a:p>
            <a:pPr lvl="0"/>
            <a:r>
              <a:rPr lang="ru-RU" dirty="0">
                <a:solidFill>
                  <a:schemeClr val="tx1"/>
                </a:solidFill>
              </a:rPr>
              <a:t>Анализ требований: выявить структуру хранения документов, форматы (PDF, DOCX, TXT).</a:t>
            </a:r>
          </a:p>
          <a:p>
            <a:pPr lvl="0"/>
            <a:r>
              <a:rPr lang="ru-RU" dirty="0">
                <a:solidFill>
                  <a:schemeClr val="tx1"/>
                </a:solidFill>
              </a:rPr>
              <a:t>Проектирование: спроектировать архитектуру, включающую модуль парсинга, модуль сегментации текста и модуль поиска (RAG).</a:t>
            </a:r>
          </a:p>
          <a:p>
            <a:pPr lvl="0"/>
            <a:r>
              <a:rPr lang="ru-RU" dirty="0">
                <a:solidFill>
                  <a:schemeClr val="tx1"/>
                </a:solidFill>
              </a:rPr>
              <a:t>Конструирование: реализовать прототип с интерфейсом для ввода запроса и отображения найденного блока.</a:t>
            </a:r>
          </a:p>
          <a:p>
            <a:pPr lvl="0"/>
            <a:r>
              <a:rPr lang="ru-RU" dirty="0">
                <a:solidFill>
                  <a:schemeClr val="tx1"/>
                </a:solidFill>
              </a:rPr>
              <a:t>Тестирование: проверить точность поиска на тестовом наборе из 10 запросов, сравнить с обычным поиском по слову.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068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B6C1A-9D41-DDD4-7E48-3C33F4A86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70779"/>
            <a:ext cx="10515600" cy="1919335"/>
          </a:xfrm>
        </p:spPr>
        <p:txBody>
          <a:bodyPr>
            <a:normAutofit/>
          </a:bodyPr>
          <a:lstStyle/>
          <a:p>
            <a:r>
              <a:rPr lang="ru-RU" dirty="0"/>
              <a:t>Актуальность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42787A-299A-4A5C-EDFB-B7E1C5E5D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390115"/>
            <a:ext cx="10515600" cy="369953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На рынке существуют системы ЭДО и корпоративные порталы, но их поиск основан на лексическом совпадении. Они не "понимают" смысл запроса и не группируют текст в завершенные блоки. Это приводит к тому, что пользователь получает 1000 документов, где есть слово, и вынужден читать их вручную.</a:t>
            </a:r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09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35B6D-F4D8-48D2-ABD6-F59547A9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0225"/>
          </a:xfrm>
        </p:spPr>
        <p:txBody>
          <a:bodyPr>
            <a:normAutofit fontScale="90000"/>
          </a:bodyPr>
          <a:lstStyle/>
          <a:p>
            <a:r>
              <a:rPr lang="ru-RU" dirty="0"/>
              <a:t>Обзор аналогов. 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24D42D2-C18B-9B53-C7A6-311B83AC9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6AD3AA-58A3-4976-923A-8B3B594A7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86416"/>
            <a:ext cx="3932237" cy="4782572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tx1"/>
                </a:solidFill>
              </a:rPr>
              <a:t>Сравнительная таблица аналогов</a:t>
            </a:r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  <a:p>
            <a:r>
              <a:rPr lang="ru-RU" dirty="0"/>
              <a:t>1С: Документооборот</a:t>
            </a:r>
          </a:p>
          <a:p>
            <a:r>
              <a:rPr lang="ru-RU" dirty="0"/>
              <a:t>Это российское решение для автоматизации документооборота. Его сильная сторона — глубокая интеграция с другими продуктами 1С. Поиск здесь — это вспомогательная, но очень важная функция.</a:t>
            </a:r>
          </a:p>
          <a:p>
            <a:r>
              <a:rPr lang="ru-RU" dirty="0"/>
              <a:t>Microsoft SharePoint</a:t>
            </a:r>
          </a:p>
          <a:p>
            <a:r>
              <a:rPr lang="ru-RU" dirty="0"/>
              <a:t>SharePoint — платформа для управления контентом и совместной работы от Microsoft. Она интегрирована с другими продуктами Microsoft 365 (Word, Excel, </a:t>
            </a:r>
            <a:r>
              <a:rPr lang="ru-RU" dirty="0" err="1"/>
              <a:t>Teams</a:t>
            </a:r>
            <a:r>
              <a:rPr lang="ru-RU" dirty="0"/>
              <a:t>) и часто используется как корпоративный портал для хранения и обмена документами.</a:t>
            </a:r>
            <a:br>
              <a:rPr lang="ru-RU" dirty="0"/>
            </a:br>
            <a:br>
              <a:rPr lang="ru-RU" dirty="0"/>
            </a:br>
            <a:r>
              <a:rPr lang="ru-RU" dirty="0" err="1"/>
              <a:t>Elasticsearch</a:t>
            </a:r>
            <a:endParaRPr lang="ru-RU" dirty="0"/>
          </a:p>
          <a:p>
            <a:r>
              <a:rPr lang="ru-RU" dirty="0"/>
              <a:t>Поисковый движок с открытым исходным кодом. В отличие от 1С или SharePoint, которые используют поиск для управления бизнес-процессами, </a:t>
            </a:r>
            <a:r>
              <a:rPr lang="ru-RU" dirty="0" err="1"/>
              <a:t>Elasticsearch</a:t>
            </a:r>
            <a:r>
              <a:rPr lang="ru-RU" dirty="0"/>
              <a:t> создан для того, чтобы искать быстро и по-умному в огромных объемах данных.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560EFB9-9FE8-E369-5632-D3E3BFDF0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377219"/>
              </p:ext>
            </p:extLst>
          </p:nvPr>
        </p:nvGraphicFramePr>
        <p:xfrm>
          <a:off x="5183188" y="996950"/>
          <a:ext cx="6169024" cy="48720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2091">
                  <a:extLst>
                    <a:ext uri="{9D8B030D-6E8A-4147-A177-3AD203B41FA5}">
                      <a16:colId xmlns:a16="http://schemas.microsoft.com/office/drawing/2014/main" val="1384242715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3509929311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1427300931"/>
                    </a:ext>
                  </a:extLst>
                </a:gridCol>
                <a:gridCol w="1542751">
                  <a:extLst>
                    <a:ext uri="{9D8B030D-6E8A-4147-A177-3AD203B41FA5}">
                      <a16:colId xmlns:a16="http://schemas.microsoft.com/office/drawing/2014/main" val="2865057469"/>
                    </a:ext>
                  </a:extLst>
                </a:gridCol>
              </a:tblGrid>
              <a:tr h="2601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Название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Функции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Преимущества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Недостатки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4718489"/>
                  </a:ext>
                </a:extLst>
              </a:tr>
              <a:tr h="1354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1С: Документооборот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Хранение, маршрутизация, полнотекстовый поиск по атрибутам и тексту.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Интеграция с учетными системами.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>
                          <a:effectLst/>
                        </a:rPr>
                        <a:t>Поиск по ключевым словам, нет смыслового анализа.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934774"/>
                  </a:ext>
                </a:extLst>
              </a:tr>
              <a:tr h="19022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 err="1">
                          <a:effectLst/>
                        </a:rPr>
                        <a:t>Elasticsearch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Индексация, поиск по словам и фразам.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Высокая скорость, масштабируемость, работа с большими данными.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Слабая работа с русской морфологией без тонкой настройки; не умеет выделять "завершенные блоки".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5628289"/>
                  </a:ext>
                </a:extLst>
              </a:tr>
              <a:tr h="1354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Microsoft SharePoint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Портальное решение, поиск внутри сайтов и документов.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Хорошая интеграция с Office.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>
                          <a:effectLst/>
                        </a:rPr>
                        <a:t>Высокая стоимость, поиск "сырой" (без смыслового ранжирования).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8364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73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E965842-3FDC-897D-E74D-2C2EEBB17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 программы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468A45-6660-9821-1637-834A3F46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53" y="1551417"/>
            <a:ext cx="10515600" cy="494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5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E22A-5FEF-CCC9-E693-A79FA937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33159BD-FC60-0CBC-D22B-4351228B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 программы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5B6B7F-E9C4-80FB-8AD3-4ED89CE4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07" y="1397184"/>
            <a:ext cx="11008093" cy="535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7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5DB6-6F19-B6AD-8AB1-166E4AF6E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E344B4F-2B92-8DBA-AA28-C2D28917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 программы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C0AB99-9AFB-ECEB-F6D6-4D5B89C11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36" y="1690688"/>
            <a:ext cx="10557474" cy="49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5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A862-4D15-1A1A-D56A-B3316E26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ED111E6-846E-8EA6-B749-D1FE64D9D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 программы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83EE6B-108E-1E67-BD93-DCD29D19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4547"/>
            <a:ext cx="10440202" cy="497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1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A45BB-67B2-EF45-B1B6-A8CFBBB8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60" y="274592"/>
            <a:ext cx="10515600" cy="741780"/>
          </a:xfrm>
        </p:spPr>
        <p:txBody>
          <a:bodyPr/>
          <a:lstStyle/>
          <a:p>
            <a:r>
              <a:rPr lang="ru-RU" dirty="0"/>
              <a:t>Сравнение результатов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5ED97-D3E0-543A-E0B1-9DA8FD77D369}"/>
              </a:ext>
            </a:extLst>
          </p:cNvPr>
          <p:cNvSpPr txBox="1"/>
          <p:nvPr/>
        </p:nvSpPr>
        <p:spPr>
          <a:xfrm>
            <a:off x="340260" y="1476102"/>
            <a:ext cx="502844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ru-RU" sz="1600" b="0" i="0" dirty="0">
                <a:effectLst/>
              </a:rPr>
              <a:t>Требования безопасности во время проведения занятий</a:t>
            </a:r>
          </a:p>
          <a:p>
            <a:pPr indent="0" algn="l">
              <a:buNone/>
            </a:pPr>
            <a:r>
              <a:rPr lang="ru-RU" sz="1600" b="0" i="0" dirty="0" err="1">
                <a:effectLst/>
              </a:rPr>
              <a:t>assistant</a:t>
            </a:r>
            <a:r>
              <a:rPr lang="ru-RU" sz="1600" b="0" i="0" dirty="0">
                <a:effectLst/>
              </a:rPr>
              <a:t> Требования безопасности во время проведения занятий:</a:t>
            </a:r>
          </a:p>
          <a:p>
            <a:pPr marR="0" indent="0"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Переодеться в раздевалке, надеть на себя спортивную форму и обувь;</a:t>
            </a:r>
          </a:p>
          <a:p>
            <a:pPr marR="0" indent="0"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Снять с себя предметы, представляющие опасность для других занимающихся (часы, сережки и т.д.);</a:t>
            </a:r>
          </a:p>
          <a:p>
            <a:pPr marR="0" indent="0"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Убрать из карманов спортивной формы режущие, колющие и другие посторонние предметы;</a:t>
            </a:r>
          </a:p>
          <a:p>
            <a:pPr marR="0" indent="0"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Под руководством учителя положить мячи на стеллажи или в любое другое место, чтобы они не раскатывались по залу и их легко можно было взять для выполнения упражнений;</a:t>
            </a:r>
          </a:p>
          <a:p>
            <a:pPr marR="0" indent="0"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Убрать в безопасное место инвентарь и оборудование, которые не будут использоваться на уроке;</a:t>
            </a:r>
          </a:p>
          <a:p>
            <a:pPr marR="0" indent="0"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По команде учителя встать в строй для общего построения.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EAC187-1BC1-4457-CC52-B39528FDD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737" y="1376514"/>
            <a:ext cx="6295933" cy="492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10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008D7-73C3-007C-EEF0-2BA678FD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788"/>
            <a:ext cx="10515600" cy="1325563"/>
          </a:xfrm>
        </p:spPr>
        <p:txBody>
          <a:bodyPr/>
          <a:lstStyle/>
          <a:p>
            <a:r>
              <a:rPr lang="ru-RU" dirty="0"/>
              <a:t>Оценка качества ответа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34CA289-18C8-2C9F-5A6C-F64FE1B5D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212107"/>
              </p:ext>
            </p:extLst>
          </p:nvPr>
        </p:nvGraphicFramePr>
        <p:xfrm>
          <a:off x="838200" y="1690687"/>
          <a:ext cx="8595510" cy="4148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70">
                  <a:extLst>
                    <a:ext uri="{9D8B030D-6E8A-4147-A177-3AD203B41FA5}">
                      <a16:colId xmlns:a16="http://schemas.microsoft.com/office/drawing/2014/main" val="4237782673"/>
                    </a:ext>
                  </a:extLst>
                </a:gridCol>
                <a:gridCol w="2865170">
                  <a:extLst>
                    <a:ext uri="{9D8B030D-6E8A-4147-A177-3AD203B41FA5}">
                      <a16:colId xmlns:a16="http://schemas.microsoft.com/office/drawing/2014/main" val="2428191949"/>
                    </a:ext>
                  </a:extLst>
                </a:gridCol>
                <a:gridCol w="2865170">
                  <a:extLst>
                    <a:ext uri="{9D8B030D-6E8A-4147-A177-3AD203B41FA5}">
                      <a16:colId xmlns:a16="http://schemas.microsoft.com/office/drawing/2014/main" val="3075017823"/>
                    </a:ext>
                  </a:extLst>
                </a:gridCol>
              </a:tblGrid>
              <a:tr h="59268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Метрика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Комментарий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557576"/>
                  </a:ext>
                </a:extLst>
              </a:tr>
              <a:tr h="59268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Релевантность теме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8/10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Тема угадана верно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746948"/>
                  </a:ext>
                </a:extLst>
              </a:tr>
              <a:tr h="59268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Соответствие разделу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3/10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Фактически другой раздел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392711"/>
                  </a:ext>
                </a:extLst>
              </a:tr>
              <a:tr h="59268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Полнота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4/10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Пропущены ключевые пункты оригинала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915303"/>
                  </a:ext>
                </a:extLst>
              </a:tr>
              <a:tr h="59268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Точность (отсутствие галлюцинаций)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7/10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Пункты правдоподобны, но не из целевого блока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492295"/>
                  </a:ext>
                </a:extLst>
              </a:tr>
              <a:tr h="59268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Структурированность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9/10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Отличный формат вывода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029966"/>
                  </a:ext>
                </a:extLst>
              </a:tr>
              <a:tr h="59268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ИТОГО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6/10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system-ui"/>
                        </a:rPr>
                        <a:t>Приемлемо для прототипа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685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849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F5DDB-0940-80A7-A9D3-5B1F16070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34" y="315504"/>
            <a:ext cx="10515600" cy="961035"/>
          </a:xfrm>
        </p:spPr>
        <p:txBody>
          <a:bodyPr>
            <a:normAutofit/>
          </a:bodyPr>
          <a:lstStyle/>
          <a:p>
            <a:r>
              <a:rPr lang="ru-RU" sz="4400" dirty="0"/>
              <a:t>Стек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B93202-DAD3-54BF-0702-DFBB3F084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729213"/>
            <a:ext cx="10515600" cy="4360438"/>
          </a:xfrm>
        </p:spPr>
        <p:txBody>
          <a:bodyPr>
            <a:normAutofit/>
          </a:bodyPr>
          <a:lstStyle/>
          <a:p>
            <a:r>
              <a:rPr lang="ru-RU" sz="1600" b="1" dirty="0">
                <a:solidFill>
                  <a:schemeClr val="tx1"/>
                </a:solidFill>
              </a:rPr>
              <a:t>Веб-интерфейс — </a:t>
            </a:r>
            <a:r>
              <a:rPr lang="ru-RU" sz="1600" b="1" dirty="0" err="1">
                <a:solidFill>
                  <a:schemeClr val="tx1"/>
                </a:solidFill>
              </a:rPr>
              <a:t>Streamlit</a:t>
            </a:r>
            <a:r>
              <a:rPr lang="ru-RU" sz="1600" b="1" dirty="0">
                <a:solidFill>
                  <a:schemeClr val="tx1"/>
                </a:solidFill>
              </a:rPr>
              <a:t>. </a:t>
            </a:r>
            <a:r>
              <a:rPr lang="ru-RU" sz="1600" dirty="0">
                <a:solidFill>
                  <a:schemeClr val="tx1"/>
                </a:solidFill>
              </a:rPr>
              <a:t>Python-фреймворк для быстрого создания веб-приложений. Выбран, потому что позволяет за минимальное время построить полноценный интерфейс с чатом, загрузкой файлов и визуализацией без HTML/CSS/JS. 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Модель </a:t>
            </a:r>
            <a:r>
              <a:rPr lang="ru-RU" sz="1600" b="1" dirty="0" err="1">
                <a:solidFill>
                  <a:schemeClr val="tx1"/>
                </a:solidFill>
              </a:rPr>
              <a:t>эмбеддингов</a:t>
            </a:r>
            <a:r>
              <a:rPr lang="ru-RU" sz="1600" b="1" dirty="0">
                <a:solidFill>
                  <a:schemeClr val="tx1"/>
                </a:solidFill>
              </a:rPr>
              <a:t> — </a:t>
            </a:r>
            <a:r>
              <a:rPr lang="ru-RU" sz="1600" b="1" dirty="0" err="1">
                <a:solidFill>
                  <a:schemeClr val="tx1"/>
                </a:solidFill>
              </a:rPr>
              <a:t>sentence-transformers</a:t>
            </a:r>
            <a:r>
              <a:rPr lang="ru-RU" sz="1600" b="1" dirty="0">
                <a:solidFill>
                  <a:schemeClr val="tx1"/>
                </a:solidFill>
              </a:rPr>
              <a:t> (paraphrase-multilingual-MiniLM-L12-v2). </a:t>
            </a:r>
            <a:r>
              <a:rPr lang="ru-RU" sz="1600" dirty="0">
                <a:solidFill>
                  <a:schemeClr val="tx1"/>
                </a:solidFill>
              </a:rPr>
              <a:t>Многоязычная модель для преобразования текста в векторы. Выбрана из-за нативной поддержки русского языка, компактного размера (384-мерные векторы) и высокой скорости работы. 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Векторная база данных — </a:t>
            </a:r>
            <a:r>
              <a:rPr lang="ru-RU" sz="1600" b="1" dirty="0" err="1">
                <a:solidFill>
                  <a:schemeClr val="tx1"/>
                </a:solidFill>
              </a:rPr>
              <a:t>ChromaDB</a:t>
            </a:r>
            <a:r>
              <a:rPr lang="ru-RU" sz="1600" b="1" dirty="0">
                <a:solidFill>
                  <a:schemeClr val="tx1"/>
                </a:solidFill>
              </a:rPr>
              <a:t>. </a:t>
            </a:r>
            <a:r>
              <a:rPr lang="ru-RU" sz="1600" dirty="0">
                <a:solidFill>
                  <a:schemeClr val="tx1"/>
                </a:solidFill>
              </a:rPr>
              <a:t>Лёгкая векторная БД с поддержкой персистентного хранения. Выбрана за простоту интеграции, возможность работы локально без отдельного сервера. 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Генеративная модель — Qwen2.5-1.5B-Instruct. </a:t>
            </a:r>
            <a:r>
              <a:rPr lang="ru-RU" sz="1600" dirty="0">
                <a:solidFill>
                  <a:schemeClr val="tx1"/>
                </a:solidFill>
              </a:rPr>
              <a:t>Компактная LLM. Выбрана из-за хорошего качества на русском языке, возможности работы локально (без API), поддержки </a:t>
            </a:r>
            <a:r>
              <a:rPr lang="ru-RU" sz="1600" dirty="0" err="1">
                <a:solidFill>
                  <a:schemeClr val="tx1"/>
                </a:solidFill>
              </a:rPr>
              <a:t>ChatML</a:t>
            </a:r>
            <a:r>
              <a:rPr lang="ru-RU" sz="1600" dirty="0">
                <a:solidFill>
                  <a:schemeClr val="tx1"/>
                </a:solidFill>
              </a:rPr>
              <a:t>-формата и адекватных требований к железу.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ML-фреймворк — </a:t>
            </a:r>
            <a:r>
              <a:rPr lang="ru-RU" sz="1600" b="1" dirty="0" err="1">
                <a:solidFill>
                  <a:schemeClr val="tx1"/>
                </a:solidFill>
              </a:rPr>
              <a:t>PyTorch</a:t>
            </a:r>
            <a:r>
              <a:rPr lang="ru-RU" sz="1600" b="1" dirty="0">
                <a:solidFill>
                  <a:schemeClr val="tx1"/>
                </a:solidFill>
              </a:rPr>
              <a:t> + </a:t>
            </a:r>
            <a:r>
              <a:rPr lang="ru-RU" sz="1600" b="1" dirty="0" err="1">
                <a:solidFill>
                  <a:schemeClr val="tx1"/>
                </a:solidFill>
              </a:rPr>
              <a:t>Hugging</a:t>
            </a:r>
            <a:r>
              <a:rPr lang="ru-RU" sz="1600" b="1" dirty="0">
                <a:solidFill>
                  <a:schemeClr val="tx1"/>
                </a:solidFill>
              </a:rPr>
              <a:t> Face </a:t>
            </a:r>
            <a:r>
              <a:rPr lang="ru-RU" sz="1600" b="1" dirty="0" err="1">
                <a:solidFill>
                  <a:schemeClr val="tx1"/>
                </a:solidFill>
              </a:rPr>
              <a:t>Transformers</a:t>
            </a:r>
            <a:r>
              <a:rPr lang="ru-RU" sz="1600" b="1" dirty="0">
                <a:solidFill>
                  <a:schemeClr val="tx1"/>
                </a:solidFill>
              </a:rPr>
              <a:t>. </a:t>
            </a:r>
            <a:r>
              <a:rPr lang="ru-RU" sz="1600" dirty="0">
                <a:solidFill>
                  <a:schemeClr val="tx1"/>
                </a:solidFill>
              </a:rPr>
              <a:t>Стандарт индустрии для работы с </a:t>
            </a:r>
            <a:r>
              <a:rPr lang="ru-RU" sz="1600" dirty="0" err="1">
                <a:solidFill>
                  <a:schemeClr val="tx1"/>
                </a:solidFill>
              </a:rPr>
              <a:t>трансформерными</a:t>
            </a:r>
            <a:r>
              <a:rPr lang="ru-RU" sz="1600" dirty="0">
                <a:solidFill>
                  <a:schemeClr val="tx1"/>
                </a:solidFill>
              </a:rPr>
              <a:t> моделями. Выбран из-за огромной экосистемы (готовые модели, </a:t>
            </a:r>
            <a:r>
              <a:rPr lang="ru-RU" sz="1600" dirty="0" err="1">
                <a:solidFill>
                  <a:schemeClr val="tx1"/>
                </a:solidFill>
              </a:rPr>
              <a:t>токенизаторы</a:t>
            </a:r>
            <a:r>
              <a:rPr lang="ru-RU" sz="1600" dirty="0">
                <a:solidFill>
                  <a:schemeClr val="tx1"/>
                </a:solidFill>
              </a:rPr>
              <a:t>, инструменты оптимизации).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Математические операции — </a:t>
            </a:r>
            <a:r>
              <a:rPr lang="ru-RU" sz="1600" b="1" dirty="0" err="1">
                <a:solidFill>
                  <a:schemeClr val="tx1"/>
                </a:solidFill>
              </a:rPr>
              <a:t>NumPy</a:t>
            </a:r>
            <a:r>
              <a:rPr lang="ru-RU" sz="1600" b="1" dirty="0">
                <a:solidFill>
                  <a:schemeClr val="tx1"/>
                </a:solidFill>
              </a:rPr>
              <a:t>. </a:t>
            </a:r>
            <a:r>
              <a:rPr lang="ru-RU" sz="1600" dirty="0">
                <a:solidFill>
                  <a:schemeClr val="tx1"/>
                </a:solidFill>
              </a:rPr>
              <a:t>Базовая библиотека для работы с массивами и векторами. Используется для операций с </a:t>
            </a:r>
            <a:r>
              <a:rPr lang="ru-RU" sz="1600" dirty="0" err="1">
                <a:solidFill>
                  <a:schemeClr val="tx1"/>
                </a:solidFill>
              </a:rPr>
              <a:t>эмбеддингами</a:t>
            </a:r>
            <a:r>
              <a:rPr lang="ru-RU" sz="1600" dirty="0">
                <a:solidFill>
                  <a:schemeClr val="tx1"/>
                </a:solidFill>
              </a:rPr>
              <a:t> (нормализация, вычисление сходства) и математических расчётов в логике сегментации текста.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3740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D8DD6-9BBC-0E6C-B302-1B7C4B65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D9596-14EF-5E06-8222-9FA724E5CB51}"/>
              </a:ext>
            </a:extLst>
          </p:cNvPr>
          <p:cNvSpPr txBox="1"/>
          <p:nvPr/>
        </p:nvSpPr>
        <p:spPr>
          <a:xfrm>
            <a:off x="838200" y="592642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https://github.com/Alhimek17/projectRAG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04419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761</Words>
  <Application>Microsoft Office PowerPoint</Application>
  <PresentationFormat>Широкоэкранный</PresentationFormat>
  <Paragraphs>81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system-ui</vt:lpstr>
      <vt:lpstr>Тема Office</vt:lpstr>
      <vt:lpstr>Формирование интеллектуального поиска по нормативным документам организации, формирование семантически завершенных блоков текста и RAG базы.</vt:lpstr>
      <vt:lpstr>Введение. Описание цели и задач проекта. </vt:lpstr>
      <vt:lpstr>Задачи</vt:lpstr>
      <vt:lpstr>Актуальность </vt:lpstr>
      <vt:lpstr>Обзор аналогов. </vt:lpstr>
      <vt:lpstr>Демонстрация работы программы</vt:lpstr>
      <vt:lpstr>Демонстрация работы программы</vt:lpstr>
      <vt:lpstr>Демонстрация работы программы</vt:lpstr>
      <vt:lpstr>Демонстрация работы программы</vt:lpstr>
      <vt:lpstr>Сравнение результатов</vt:lpstr>
      <vt:lpstr>Оценка качества ответа</vt:lpstr>
      <vt:lpstr>Стек технологий</vt:lpstr>
      <vt:lpstr>Спасибо за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Некрасов</dc:creator>
  <cp:lastModifiedBy>Артём Некрасов</cp:lastModifiedBy>
  <cp:revision>3</cp:revision>
  <dcterms:created xsi:type="dcterms:W3CDTF">2026-07-02T08:49:39Z</dcterms:created>
  <dcterms:modified xsi:type="dcterms:W3CDTF">2026-07-02T10:09:58Z</dcterms:modified>
</cp:coreProperties>
</file>